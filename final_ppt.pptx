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71" r:id="rId14"/>
    <p:sldId id="272" r:id="rId15"/>
    <p:sldId id="273" r:id="rId16"/>
    <p:sldId id="274" r:id="rId17"/>
    <p:sldId id="275" r:id="rId18"/>
    <p:sldId id="277" r:id="rId19"/>
    <p:sldId id="276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7771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9C180-02CA-9736-4030-F50D3C281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13493-43A7-997E-EB6C-258B0C9247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4759B1-1034-49DF-DACD-CBF68A96FE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0EEA2B-7F5A-7534-600D-F9D5B31D17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8510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82880" y="0"/>
            <a:ext cx="877824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Processing and Pattern Recognition Individual Course Project Presentation 2026 Spring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</a:t>
            </a:r>
            <a:endParaRPr lang="en-US" sz="20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Bishesh KC [023-318]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August 2026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453128"/>
            <a:ext cx="9144000" cy="690372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0" y="4507992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nec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0" y="483717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and Engineering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3AF756-BC25-D17B-DD69-50003A768928}"/>
              </a:ext>
            </a:extLst>
          </p:cNvPr>
          <p:cNvSpPr txBox="1"/>
          <p:nvPr/>
        </p:nvSpPr>
        <p:spPr>
          <a:xfrm>
            <a:off x="884902" y="1828800"/>
            <a:ext cx="55627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Helmet Detection Using CNN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745736"/>
            <a:ext cx="9144000" cy="397764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4745736"/>
            <a:ext cx="1371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55280" y="4745736"/>
            <a:ext cx="822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813816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GB" b="1" dirty="0"/>
              <a:t>What is Bike Helmet Detection?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A system that detects whether a person is wearing a helmet from uploaded images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Uses deep learning and Convolutional Neural Networks (CNN)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Trained from scratch on a custom dataset</a:t>
            </a:r>
          </a:p>
          <a:p>
            <a:r>
              <a:rPr lang="en-GB" b="1" dirty="0"/>
              <a:t>Why is it Important?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Manual monitoring is slow, inconsistent, and prone to human error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Helmets reduce head injuries and fatalities in accidents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Automated systems can assist in traffic safety enforcement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Scalable solution for large-scale monitoring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745736"/>
            <a:ext cx="9144000" cy="397764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4745736"/>
            <a:ext cx="1371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55280" y="4745736"/>
            <a:ext cx="822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813816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lnSpc>
                <a:spcPct val="108000"/>
              </a:lnSpc>
              <a:spcAft>
                <a:spcPts val="1000"/>
              </a:spcAft>
              <a:buSzPct val="100000"/>
            </a:pPr>
            <a:endParaRPr lang="en-US" sz="18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BBDD0D6-907C-AD75-518E-6CA99BC6E9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212347"/>
              </p:ext>
            </p:extLst>
          </p:nvPr>
        </p:nvGraphicFramePr>
        <p:xfrm>
          <a:off x="628649" y="1370012"/>
          <a:ext cx="7711563" cy="3201987"/>
        </p:xfrm>
        <a:graphic>
          <a:graphicData uri="http://schemas.openxmlformats.org/drawingml/2006/table">
            <a:tbl>
              <a:tblPr/>
              <a:tblGrid>
                <a:gridCol w="7711563">
                  <a:extLst>
                    <a:ext uri="{9D8B030D-6E8A-4147-A177-3AD203B41FA5}">
                      <a16:colId xmlns:a16="http://schemas.microsoft.com/office/drawing/2014/main" val="3455506150"/>
                    </a:ext>
                  </a:extLst>
                </a:gridCol>
              </a:tblGrid>
              <a:tr h="3201987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Manual monitoring of helmet use by motorcycle and bicycle riders is time-consuming, inefficient, and difficult to perform on a large scale. There is a need for an automated system that can detect helmet violations from images.</a:t>
                      </a:r>
                      <a:endParaRPr lang="en-GB" sz="1125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321857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3169C52-E9BC-EFC1-9396-E48F07EA13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276186"/>
              </p:ext>
            </p:extLst>
          </p:nvPr>
        </p:nvGraphicFramePr>
        <p:xfrm>
          <a:off x="628650" y="1370013"/>
          <a:ext cx="508000" cy="1855470"/>
        </p:xfrm>
        <a:graphic>
          <a:graphicData uri="http://schemas.openxmlformats.org/drawingml/2006/table">
            <a:tbl>
              <a:tblPr/>
              <a:tblGrid>
                <a:gridCol w="238760">
                  <a:extLst>
                    <a:ext uri="{9D8B030D-6E8A-4147-A177-3AD203B41FA5}">
                      <a16:colId xmlns:a16="http://schemas.microsoft.com/office/drawing/2014/main" val="3709222004"/>
                    </a:ext>
                  </a:extLst>
                </a:gridCol>
                <a:gridCol w="269240">
                  <a:extLst>
                    <a:ext uri="{9D8B030D-6E8A-4147-A177-3AD203B41FA5}">
                      <a16:colId xmlns:a16="http://schemas.microsoft.com/office/drawing/2014/main" val="744909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en-GB" sz="1125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en-GB" sz="1125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6242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en-GB" sz="1125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en-GB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277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en-GB" sz="1125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en-GB" sz="1125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77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en-GB" sz="1125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en-GB" sz="1125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11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en-GB" sz="1125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en-GB" sz="1125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09489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of the project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745736"/>
            <a:ext cx="9144000" cy="397764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4745736"/>
            <a:ext cx="1371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55280" y="4745736"/>
            <a:ext cx="822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813816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To develop a CNN-based system for automatically detecting whether a person is wearing a helmet from uploaded images.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To train the CNN model from scratch on a custom dataset using </a:t>
            </a:r>
            <a:r>
              <a:rPr lang="en-GB" dirty="0" err="1"/>
              <a:t>PyTorch</a:t>
            </a:r>
            <a:r>
              <a:rPr lang="en-GB" dirty="0"/>
              <a:t> and GPU acceleration, and evaluate its performance using accuracy, precision, recall, and F1-score.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To deploy the trained model as an interactive Flask web application that allows users to upload images and receive predictions with confidence scores.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the project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745736"/>
            <a:ext cx="9144000" cy="397764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4745736"/>
            <a:ext cx="1371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55280" y="4745736"/>
            <a:ext cx="822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813816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The system is capable of recognizing two distinct classes: </a:t>
            </a:r>
            <a:r>
              <a:rPr lang="en-GB" dirty="0" err="1"/>
              <a:t>with_helmet</a:t>
            </a:r>
            <a:r>
              <a:rPr lang="en-GB" dirty="0"/>
              <a:t> and </a:t>
            </a:r>
            <a:r>
              <a:rPr lang="en-GB" dirty="0" err="1"/>
              <a:t>without_helmet</a:t>
            </a:r>
            <a:r>
              <a:rPr lang="en-GB" dirty="0"/>
              <a:t> from images of bicycle and motorcycle riders.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It supports static image input (file upload) through a web-based interface for real-time classification.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The system includes a web-based user interface with confidence score visualization, REST API endpoints, GPU-accelerated inference, automatic model saving, and error handling for invalid file types.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745736"/>
            <a:ext cx="9144000" cy="397764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4745736"/>
            <a:ext cx="1371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55280" y="4745736"/>
            <a:ext cx="822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864256"/>
            <a:ext cx="813816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Convolutional Neural Networks (CNNs) are a class of deep, feed-forward artificial neural networks that have been successfully applied to </a:t>
            </a:r>
            <a:r>
              <a:rPr lang="en-GB" dirty="0" err="1"/>
              <a:t>analyzing</a:t>
            </a:r>
            <a:r>
              <a:rPr lang="en-GB" dirty="0"/>
              <a:t> visual imagery. [1]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typical CNN architecture consists of three types of layers: convolutional layers, pooling layers, and fully-connected layers. The first two layers perform feature extraction, while the fully-connected layer maps the extracted features into final output. [3]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Batch Normalization is a technique that normalizes the inputs to each layer in a neural network, reducing internal covariate shift and allowing for higher learning rates, less careful initialization, and serving as a </a:t>
            </a:r>
            <a:r>
              <a:rPr lang="en-GB" dirty="0" err="1"/>
              <a:t>regularizer</a:t>
            </a:r>
            <a:r>
              <a:rPr lang="en-GB" dirty="0"/>
              <a:t>. [5]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Dropout is a regularization technique for reducing overfitting in neural networks by preventing complex co-adaptations on training data. The term 'dropout' refers to randomly dropping out units (along with their connections) from the neural network during training. [7]</a:t>
            </a:r>
            <a:br>
              <a:rPr lang="en-GB" dirty="0"/>
            </a:br>
            <a:endParaRPr lang="en-GB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requirements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745736"/>
            <a:ext cx="9144000" cy="397764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4745736"/>
            <a:ext cx="1371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55280" y="4745736"/>
            <a:ext cx="822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813816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requirements</a:t>
            </a:r>
            <a:endParaRPr lang="en-US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400" dirty="0"/>
              <a:t>The system shall accept image uploads in JPG, PNG, BMP, and WEBP formats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400" dirty="0"/>
              <a:t>The system shall classify images into two categories: </a:t>
            </a:r>
            <a:r>
              <a:rPr lang="en-GB" sz="1400" dirty="0" err="1"/>
              <a:t>with_helmet</a:t>
            </a:r>
            <a:r>
              <a:rPr lang="en-GB" sz="1400" dirty="0"/>
              <a:t> and </a:t>
            </a:r>
            <a:r>
              <a:rPr lang="en-GB" sz="1400" dirty="0" err="1"/>
              <a:t>without_helmet</a:t>
            </a:r>
            <a:endParaRPr lang="en-GB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400" dirty="0"/>
              <a:t>The system shall display the prediction result along with a confidence score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400" dirty="0"/>
              <a:t>The system shall provide a web interface for image upload and result display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400" dirty="0"/>
              <a:t>The system shall train a CNN model from scratch using </a:t>
            </a:r>
            <a:r>
              <a:rPr lang="en-GB" sz="1400" dirty="0" err="1"/>
              <a:t>PyTorch</a:t>
            </a:r>
            <a:endParaRPr lang="en-GB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400" dirty="0"/>
              <a:t>The system shall save the best-performing model weights during training</a:t>
            </a:r>
            <a:endParaRPr lang="en-US" sz="1400" dirty="0"/>
          </a:p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Non-functional requirements</a:t>
            </a:r>
            <a:endParaRPr lang="en-US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600" dirty="0"/>
              <a:t>The system shall process a single image prediction in under 2 seconds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600" dirty="0"/>
              <a:t>The system shall achieve a minimum validation accuracy of 80%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600" dirty="0"/>
              <a:t>The system shall support GPU acceleration using CUDA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600" dirty="0"/>
              <a:t>The system shall be accessible via a web browser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600" dirty="0"/>
              <a:t>The system shall provide clear error messages for invalid inputs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description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745736"/>
            <a:ext cx="9144000" cy="397764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4745736"/>
            <a:ext cx="1371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55280" y="4745736"/>
            <a:ext cx="822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4684" y="958055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150405"/>
              </p:ext>
            </p:extLst>
          </p:nvPr>
        </p:nvGraphicFramePr>
        <p:xfrm>
          <a:off x="502920" y="1508760"/>
          <a:ext cx="8138160" cy="259765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25" b="0" i="0" dirty="0">
                          <a:solidFill>
                            <a:srgbClr val="0F1115"/>
                          </a:solidFill>
                          <a:effectLst/>
                          <a:highlight>
                            <a:srgbClr val="FFFF00"/>
                          </a:highlight>
                          <a:latin typeface="quote-cjk-patch"/>
                        </a:rPr>
                        <a:t>Aspect</a:t>
                      </a:r>
                    </a:p>
                  </a:txBody>
                  <a:tcPr marR="12192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0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25" b="0" i="0" dirty="0">
                          <a:solidFill>
                            <a:srgbClr val="0F1115"/>
                          </a:solidFill>
                          <a:effectLst/>
                          <a:highlight>
                            <a:srgbClr val="FFFF00"/>
                          </a:highlight>
                          <a:latin typeface="quote-cjk-patch"/>
                        </a:rPr>
                        <a:t>Description</a:t>
                      </a:r>
                    </a:p>
                  </a:txBody>
                  <a:tcPr marL="121920" marR="12192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25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Total Images</a:t>
                      </a:r>
                      <a:endParaRPr lang="en-GB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25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1,522</a:t>
                      </a:r>
                    </a:p>
                  </a:txBody>
                  <a:tcPr marL="12192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25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Classes</a:t>
                      </a:r>
                      <a:endParaRPr lang="en-GB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25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with_helmet, without_helmet</a:t>
                      </a:r>
                    </a:p>
                  </a:txBody>
                  <a:tcPr marL="12192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25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Sources</a:t>
                      </a:r>
                      <a:endParaRPr lang="en-GB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25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Google Images, Kaggle, Roboflow</a:t>
                      </a:r>
                    </a:p>
                  </a:txBody>
                  <a:tcPr marL="12192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25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Image Format</a:t>
                      </a:r>
                      <a:endParaRPr lang="en-GB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25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JPG, JPEG, PNG</a:t>
                      </a:r>
                    </a:p>
                  </a:txBody>
                  <a:tcPr marL="12192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25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Image Size (Input)</a:t>
                      </a:r>
                      <a:endParaRPr lang="en-GB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25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224 × 224 pixels</a:t>
                      </a:r>
                    </a:p>
                  </a:txBody>
                  <a:tcPr marL="12192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25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Training Set</a:t>
                      </a:r>
                      <a:endParaRPr lang="en-GB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25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1,264 images</a:t>
                      </a:r>
                    </a:p>
                  </a:txBody>
                  <a:tcPr marL="12192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Implementation: tools &amp; environment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745736"/>
            <a:ext cx="9144000" cy="397764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4745736"/>
            <a:ext cx="1371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55280" y="4745736"/>
            <a:ext cx="822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9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813816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endParaRPr lang="en-US" sz="17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CE73BE8-3868-444A-2A29-55BEDD9B42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46830"/>
              </p:ext>
            </p:extLst>
          </p:nvPr>
        </p:nvGraphicFramePr>
        <p:xfrm>
          <a:off x="1851352" y="1041686"/>
          <a:ext cx="5220069" cy="3692909"/>
        </p:xfrm>
        <a:graphic>
          <a:graphicData uri="http://schemas.openxmlformats.org/drawingml/2006/table">
            <a:tbl>
              <a:tblPr/>
              <a:tblGrid>
                <a:gridCol w="1740023">
                  <a:extLst>
                    <a:ext uri="{9D8B030D-6E8A-4147-A177-3AD203B41FA5}">
                      <a16:colId xmlns:a16="http://schemas.microsoft.com/office/drawing/2014/main" val="3629305043"/>
                    </a:ext>
                  </a:extLst>
                </a:gridCol>
                <a:gridCol w="1740023">
                  <a:extLst>
                    <a:ext uri="{9D8B030D-6E8A-4147-A177-3AD203B41FA5}">
                      <a16:colId xmlns:a16="http://schemas.microsoft.com/office/drawing/2014/main" val="2586976875"/>
                    </a:ext>
                  </a:extLst>
                </a:gridCol>
                <a:gridCol w="1740023">
                  <a:extLst>
                    <a:ext uri="{9D8B030D-6E8A-4147-A177-3AD203B41FA5}">
                      <a16:colId xmlns:a16="http://schemas.microsoft.com/office/drawing/2014/main" val="1502046228"/>
                    </a:ext>
                  </a:extLst>
                </a:gridCol>
              </a:tblGrid>
              <a:tr h="33805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Tool/Library</a:t>
                      </a:r>
                    </a:p>
                  </a:txBody>
                  <a:tcPr marL="83299" marR="111065" marT="69416" marB="694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Version</a:t>
                      </a:r>
                    </a:p>
                  </a:txBody>
                  <a:tcPr marL="111065" marR="111065" marT="69416" marB="694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Purpose</a:t>
                      </a:r>
                    </a:p>
                  </a:txBody>
                  <a:tcPr marL="111065" marR="111065" marT="69416" marB="694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943486"/>
                  </a:ext>
                </a:extLst>
              </a:tr>
              <a:tr h="33805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Python</a:t>
                      </a:r>
                    </a:p>
                  </a:txBody>
                  <a:tcPr marL="83299" marR="111065" marT="69416" marB="694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3.11.9</a:t>
                      </a:r>
                    </a:p>
                  </a:txBody>
                  <a:tcPr marL="111065" marR="111065" marT="69416" marB="694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Core programming language</a:t>
                      </a:r>
                    </a:p>
                  </a:txBody>
                  <a:tcPr marL="111065" marR="83299" marT="69416" marB="694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37752"/>
                  </a:ext>
                </a:extLst>
              </a:tr>
              <a:tr h="55787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PyTorch</a:t>
                      </a:r>
                    </a:p>
                  </a:txBody>
                  <a:tcPr marL="83299" marR="111065" marT="69416" marB="694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2.x</a:t>
                      </a:r>
                    </a:p>
                  </a:txBody>
                  <a:tcPr marL="111065" marR="111065" marT="69416" marB="694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Deep learning framework for CNN</a:t>
                      </a:r>
                    </a:p>
                  </a:txBody>
                  <a:tcPr marL="111065" marR="83299" marT="69416" marB="694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298305"/>
                  </a:ext>
                </a:extLst>
              </a:tr>
              <a:tr h="33805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OpenCV</a:t>
                      </a:r>
                    </a:p>
                  </a:txBody>
                  <a:tcPr marL="83299" marR="111065" marT="69416" marB="694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4.x</a:t>
                      </a:r>
                    </a:p>
                  </a:txBody>
                  <a:tcPr marL="111065" marR="111065" marT="69416" marB="694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Image preprocessing</a:t>
                      </a:r>
                    </a:p>
                  </a:txBody>
                  <a:tcPr marL="111065" marR="83299" marT="69416" marB="694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414041"/>
                  </a:ext>
                </a:extLst>
              </a:tr>
              <a:tr h="33805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NumPy</a:t>
                      </a:r>
                    </a:p>
                  </a:txBody>
                  <a:tcPr marL="83299" marR="111065" marT="69416" marB="694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1.24.x</a:t>
                      </a:r>
                    </a:p>
                  </a:txBody>
                  <a:tcPr marL="111065" marR="111065" marT="69416" marB="694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Numerical computations</a:t>
                      </a:r>
                    </a:p>
                  </a:txBody>
                  <a:tcPr marL="111065" marR="83299" marT="69416" marB="694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221627"/>
                  </a:ext>
                </a:extLst>
              </a:tr>
              <a:tr h="33805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Matplotlib</a:t>
                      </a:r>
                    </a:p>
                  </a:txBody>
                  <a:tcPr marL="83299" marR="111065" marT="69416" marB="694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3.7.x</a:t>
                      </a:r>
                    </a:p>
                  </a:txBody>
                  <a:tcPr marL="111065" marR="111065" marT="69416" marB="694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Visualization and plots</a:t>
                      </a:r>
                    </a:p>
                  </a:txBody>
                  <a:tcPr marL="111065" marR="83299" marT="69416" marB="694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454645"/>
                  </a:ext>
                </a:extLst>
              </a:tr>
              <a:tr h="33805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Flask</a:t>
                      </a:r>
                    </a:p>
                  </a:txBody>
                  <a:tcPr marL="83299" marR="111065" marT="69416" marB="694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2.x</a:t>
                      </a:r>
                    </a:p>
                  </a:txBody>
                  <a:tcPr marL="111065" marR="111065" marT="69416" marB="694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Web application</a:t>
                      </a:r>
                    </a:p>
                  </a:txBody>
                  <a:tcPr marL="111065" marR="83299" marT="69416" marB="694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474171"/>
                  </a:ext>
                </a:extLst>
              </a:tr>
              <a:tr h="33805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CUDA</a:t>
                      </a:r>
                    </a:p>
                  </a:txBody>
                  <a:tcPr marL="83299" marR="111065" marT="69416" marB="694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11.8</a:t>
                      </a:r>
                    </a:p>
                  </a:txBody>
                  <a:tcPr marL="111065" marR="111065" marT="69416" marB="694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GPU acceleration</a:t>
                      </a:r>
                    </a:p>
                  </a:txBody>
                  <a:tcPr marL="111065" marR="83299" marT="69416" marB="694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025794"/>
                  </a:ext>
                </a:extLst>
              </a:tr>
              <a:tr h="33805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cuDNN</a:t>
                      </a:r>
                    </a:p>
                  </a:txBody>
                  <a:tcPr marL="83299" marR="111065" marT="69416" marB="694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8.9.7</a:t>
                      </a:r>
                    </a:p>
                  </a:txBody>
                  <a:tcPr marL="111065" marR="111065" marT="69416" marB="694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1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Deep learning optimization</a:t>
                      </a:r>
                    </a:p>
                  </a:txBody>
                  <a:tcPr marL="111065" marR="83299" marT="69416" marB="694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121795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modules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745736"/>
            <a:ext cx="9144000" cy="397764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Text 3"/>
          <p:cNvSpPr/>
          <p:nvPr/>
        </p:nvSpPr>
        <p:spPr>
          <a:xfrm>
            <a:off x="320040" y="4745736"/>
            <a:ext cx="1371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55280" y="4745736"/>
            <a:ext cx="822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813816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Image Input Module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Preprocessing Module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Model Architecture Module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Training Module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Classification Module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Web Interface Module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Output Module</a:t>
            </a:r>
          </a:p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algorithms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-36871" y="4745736"/>
            <a:ext cx="9144000" cy="397764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4745736"/>
            <a:ext cx="1371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55280" y="4745736"/>
            <a:ext cx="822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813816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b="1" dirty="0"/>
              <a:t>CNN</a:t>
            </a:r>
            <a:r>
              <a:rPr lang="en-GB" dirty="0"/>
              <a:t> – Extracts features and classifies images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b="1" dirty="0" err="1"/>
              <a:t>AdamW</a:t>
            </a:r>
            <a:r>
              <a:rPr lang="en-GB" dirty="0"/>
              <a:t> – Optimizes network weights during training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b="1" dirty="0" err="1"/>
              <a:t>ReLU</a:t>
            </a:r>
            <a:r>
              <a:rPr lang="en-GB" dirty="0"/>
              <a:t> – Introduces non-linearity in hidden layers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b="1" dirty="0" err="1"/>
              <a:t>Softmax</a:t>
            </a:r>
            <a:r>
              <a:rPr lang="en-GB" dirty="0"/>
              <a:t> – Converts logits to probability distribution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b="1" dirty="0"/>
              <a:t>Dropout</a:t>
            </a:r>
            <a:r>
              <a:rPr lang="en-GB" dirty="0"/>
              <a:t> – Prevents overfitting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b="1" dirty="0"/>
              <a:t>Batch Normalization</a:t>
            </a:r>
            <a:r>
              <a:rPr lang="en-GB" dirty="0"/>
              <a:t> – Stabilizes training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b="1" dirty="0" err="1"/>
              <a:t>CrossEntropyLoss</a:t>
            </a:r>
            <a:r>
              <a:rPr lang="en-GB" dirty="0"/>
              <a:t> – Measures classification performance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b="1" dirty="0"/>
              <a:t>Early Stopping</a:t>
            </a:r>
            <a:r>
              <a:rPr lang="en-GB" dirty="0"/>
              <a:t> – Stops training when validation accuracy plateaus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b="1" dirty="0"/>
              <a:t>Data Augmentation</a:t>
            </a:r>
            <a:r>
              <a:rPr lang="en-GB" dirty="0"/>
              <a:t> – Improves generalization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b="1" dirty="0"/>
              <a:t>Global Average Pooling</a:t>
            </a:r>
            <a:r>
              <a:rPr lang="en-GB" dirty="0"/>
              <a:t> – Reduces parameters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results: setup &amp;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745736"/>
            <a:ext cx="9144000" cy="397764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4745736"/>
            <a:ext cx="1371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55280" y="4745736"/>
            <a:ext cx="822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89611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 generalizability on a holdout set of 3,589 images, isolated from training and tuning.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879238"/>
              </p:ext>
            </p:extLst>
          </p:nvPr>
        </p:nvGraphicFramePr>
        <p:xfrm>
          <a:off x="623857" y="1463040"/>
          <a:ext cx="8138160" cy="2561844"/>
        </p:xfrm>
        <a:graphic>
          <a:graphicData uri="http://schemas.openxmlformats.org/drawingml/2006/table">
            <a:tbl>
              <a:tblPr/>
              <a:tblGrid>
                <a:gridCol w="4069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200" b="1" dirty="0">
                          <a:effectLst/>
                          <a:latin typeface="quote-cjk-patch"/>
                        </a:rPr>
                        <a:t>Metric</a:t>
                      </a:r>
                    </a:p>
                  </a:txBody>
                  <a:tcPr marR="12192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0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GB" sz="1200" b="1">
                          <a:effectLst/>
                          <a:latin typeface="quote-cjk-patch"/>
                        </a:rPr>
                        <a:t>Score</a:t>
                      </a:r>
                    </a:p>
                  </a:txBody>
                  <a:tcPr marL="121920" marR="12192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200" b="1">
                          <a:effectLst/>
                          <a:latin typeface="quote-cjk-patch"/>
                        </a:rPr>
                        <a:t>Test Accuracy</a:t>
                      </a:r>
                    </a:p>
                  </a:txBody>
                  <a:tcPr marR="12192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200" b="1">
                          <a:effectLst/>
                          <a:latin typeface="quote-cjk-patch"/>
                        </a:rPr>
                        <a:t>62.86%</a:t>
                      </a:r>
                    </a:p>
                  </a:txBody>
                  <a:tcPr marL="12192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200" b="1">
                          <a:effectLst/>
                          <a:latin typeface="quote-cjk-patch"/>
                        </a:rPr>
                        <a:t>Macro Precision</a:t>
                      </a:r>
                    </a:p>
                  </a:txBody>
                  <a:tcPr marR="12192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200" b="1">
                          <a:effectLst/>
                          <a:latin typeface="quote-cjk-patch"/>
                        </a:rPr>
                        <a:t>68.50%</a:t>
                      </a:r>
                    </a:p>
                  </a:txBody>
                  <a:tcPr marL="12192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200" b="1">
                          <a:effectLst/>
                          <a:latin typeface="quote-cjk-patch"/>
                        </a:rPr>
                        <a:t>Macro Recall</a:t>
                      </a:r>
                    </a:p>
                  </a:txBody>
                  <a:tcPr marR="12192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200" b="1">
                          <a:effectLst/>
                          <a:latin typeface="quote-cjk-patch"/>
                        </a:rPr>
                        <a:t>52.50%</a:t>
                      </a:r>
                    </a:p>
                  </a:txBody>
                  <a:tcPr marL="12192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200" b="1">
                          <a:effectLst/>
                          <a:latin typeface="quote-cjk-patch"/>
                        </a:rPr>
                        <a:t>Macro F1-Score</a:t>
                      </a:r>
                    </a:p>
                  </a:txBody>
                  <a:tcPr marR="12192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200" b="1">
                          <a:effectLst/>
                          <a:latin typeface="quote-cjk-patch"/>
                        </a:rPr>
                        <a:t>44.50%</a:t>
                      </a:r>
                    </a:p>
                  </a:txBody>
                  <a:tcPr marL="12192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200" b="1">
                          <a:effectLst/>
                          <a:latin typeface="quote-cjk-patch"/>
                        </a:rPr>
                        <a:t>Weighted F1-Score</a:t>
                      </a:r>
                    </a:p>
                  </a:txBody>
                  <a:tcPr marR="12192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GB" sz="1200" b="1" dirty="0">
                          <a:effectLst/>
                          <a:latin typeface="quote-cjk-patch"/>
                        </a:rPr>
                        <a:t>51.50%</a:t>
                      </a:r>
                    </a:p>
                  </a:txBody>
                  <a:tcPr marL="12192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of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745736"/>
            <a:ext cx="9144000" cy="397764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4745736"/>
            <a:ext cx="1371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55280" y="4745736"/>
            <a:ext cx="822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813816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The model achieved 98% recall for the </a:t>
            </a:r>
            <a:r>
              <a:rPr lang="en-GB" dirty="0" err="1"/>
              <a:t>with_helmet</a:t>
            </a:r>
            <a:r>
              <a:rPr lang="en-GB" dirty="0"/>
              <a:t> class, demonstrating excellent helmet detection capability.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The model performed poorly on the </a:t>
            </a:r>
            <a:r>
              <a:rPr lang="en-GB" dirty="0" err="1"/>
              <a:t>without_helmet</a:t>
            </a:r>
            <a:r>
              <a:rPr lang="en-GB" dirty="0"/>
              <a:t> class with only 7% recall, indicating a strong bias toward the majority class.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Class imbalance in the dataset (937 </a:t>
            </a:r>
            <a:r>
              <a:rPr lang="en-GB" dirty="0" err="1"/>
              <a:t>with_helmet</a:t>
            </a:r>
            <a:r>
              <a:rPr lang="en-GB" dirty="0"/>
              <a:t> vs 327 </a:t>
            </a:r>
            <a:r>
              <a:rPr lang="en-GB" dirty="0" err="1"/>
              <a:t>without_helmet</a:t>
            </a:r>
            <a:r>
              <a:rPr lang="en-GB" dirty="0"/>
              <a:t>) is the primary reason for poor </a:t>
            </a:r>
            <a:r>
              <a:rPr lang="en-GB" dirty="0" err="1"/>
              <a:t>without_helmet</a:t>
            </a:r>
            <a:r>
              <a:rPr lang="en-GB" dirty="0"/>
              <a:t> detection.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Overall test accuracy of 62.86% is below the target of 80%, mainly due to the model's bias toward the </a:t>
            </a:r>
            <a:r>
              <a:rPr lang="en-GB" dirty="0" err="1"/>
              <a:t>with_helmet</a:t>
            </a:r>
            <a:r>
              <a:rPr lang="en-GB" dirty="0"/>
              <a:t> class.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Inference time of less than 1 second makes the system suitable for real-time applications, though the model needs improvement for detecting people without helmets.</a:t>
            </a:r>
          </a:p>
          <a:p>
            <a:br>
              <a:rPr lang="en-GB" sz="1600" dirty="0"/>
            </a:b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Conclusion: achievements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745736"/>
            <a:ext cx="9144000" cy="397764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4745736"/>
            <a:ext cx="1371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55280" y="4745736"/>
            <a:ext cx="822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813816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Successfully designed and implemented a CNN-based bike helmet detection pipeline from scratch using </a:t>
            </a:r>
            <a:r>
              <a:rPr lang="en-GB" dirty="0" err="1"/>
              <a:t>PyTorch</a:t>
            </a:r>
            <a:r>
              <a:rPr lang="en-GB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Curated a custom dataset of 1,522 images across two classes (</a:t>
            </a:r>
            <a:r>
              <a:rPr lang="en-GB" dirty="0" err="1"/>
              <a:t>with_helmet</a:t>
            </a:r>
            <a:r>
              <a:rPr lang="en-GB" dirty="0"/>
              <a:t> and </a:t>
            </a:r>
            <a:r>
              <a:rPr lang="en-GB" dirty="0" err="1"/>
              <a:t>without_helmet</a:t>
            </a:r>
            <a:r>
              <a:rPr lang="en-GB" dirty="0"/>
              <a:t>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Achieved 98% recall for the </a:t>
            </a:r>
            <a:r>
              <a:rPr lang="en-GB" dirty="0" err="1"/>
              <a:t>with_helmet</a:t>
            </a:r>
            <a:r>
              <a:rPr lang="en-GB" dirty="0"/>
              <a:t> class, demonstrating strong helmet detection capability.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Leveraged GPU acceleration (NVIDIA RTX 4050) to complete training in approximately 12.5 minutes.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Deployed the system as an interactive Flask web application with confidence score predictions.</a:t>
            </a:r>
          </a:p>
          <a:p>
            <a:pPr marL="342900" indent="-342900" algn="l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745736"/>
            <a:ext cx="9144000" cy="397764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4745736"/>
            <a:ext cx="1371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55280" y="4745736"/>
            <a:ext cx="822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813816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The model exhibits significant bias toward the </a:t>
            </a:r>
            <a:r>
              <a:rPr lang="en-GB" dirty="0" err="1"/>
              <a:t>with_helmet</a:t>
            </a:r>
            <a:r>
              <a:rPr lang="en-GB" dirty="0"/>
              <a:t> class, achieving only 7% recall for the </a:t>
            </a:r>
            <a:r>
              <a:rPr lang="en-GB" dirty="0" err="1"/>
              <a:t>without_helmet</a:t>
            </a:r>
            <a:r>
              <a:rPr lang="en-GB" dirty="0"/>
              <a:t> class.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The dataset is imbalanced (937 </a:t>
            </a:r>
            <a:r>
              <a:rPr lang="en-GB" dirty="0" err="1"/>
              <a:t>with_helmet</a:t>
            </a:r>
            <a:r>
              <a:rPr lang="en-GB" dirty="0"/>
              <a:t> vs 327 </a:t>
            </a:r>
            <a:r>
              <a:rPr lang="en-GB" dirty="0" err="1"/>
              <a:t>without_helmet</a:t>
            </a:r>
            <a:r>
              <a:rPr lang="en-GB" dirty="0"/>
              <a:t>) and relatively small (1,522 images), limiting generalization.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The system supports only static image uploads and does not support live video processing.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The system is limited to binary classification (helmet vs no-helmet) and does not support multi-class detection or object localization.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Performance degrades with heavily cluttered backgrounds, extreme lighting conditions, or partially occluded riders.</a:t>
            </a:r>
          </a:p>
          <a:p>
            <a:pPr marL="342900" indent="-342900" algn="l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745736"/>
            <a:ext cx="9144000" cy="397764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4745736"/>
            <a:ext cx="1371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55280" y="4745736"/>
            <a:ext cx="822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813816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b="1" dirty="0"/>
              <a:t>Balance the Dataset</a:t>
            </a:r>
            <a:r>
              <a:rPr lang="en-GB" dirty="0"/>
              <a:t>: Collect more images of people without helmets to improve class balance and model performance.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b="1" dirty="0"/>
              <a:t>Live Video Processing</a:t>
            </a:r>
            <a:r>
              <a:rPr lang="en-GB" dirty="0"/>
              <a:t>: Integrate real-time video streaming support for continuous monitoring and surveillance applications.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b="1" dirty="0"/>
              <a:t>Object Detection</a:t>
            </a:r>
            <a:r>
              <a:rPr lang="en-GB" dirty="0"/>
              <a:t>: Extend the system to localize helmets using architectures like YOLO or Faster R-CNN.</a:t>
            </a:r>
          </a:p>
          <a:p>
            <a:pPr marL="342900" indent="-342900" algn="l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745736"/>
            <a:ext cx="9144000" cy="397764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20040" y="4745736"/>
            <a:ext cx="1371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55280" y="4745736"/>
            <a:ext cx="822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17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813816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[1]	A. </a:t>
            </a:r>
            <a:r>
              <a:rPr lang="en-GB" sz="1200" dirty="0" err="1"/>
              <a:t>Krizhevsky</a:t>
            </a:r>
            <a:r>
              <a:rPr lang="en-GB" sz="1200" dirty="0"/>
              <a:t>, I. </a:t>
            </a:r>
            <a:r>
              <a:rPr lang="en-GB" sz="1200" dirty="0" err="1"/>
              <a:t>Sutskever</a:t>
            </a:r>
            <a:r>
              <a:rPr lang="en-GB" sz="1200" dirty="0"/>
              <a:t>, and G. E. Hinton, ‘ImageNet Classification with Deep Convolutional Neural Networks’, in </a:t>
            </a:r>
            <a:r>
              <a:rPr lang="en-GB" sz="1200" i="1" dirty="0"/>
              <a:t>Advances in Neural Information Processing Systems</a:t>
            </a:r>
            <a:r>
              <a:rPr lang="en-GB" sz="1200" dirty="0"/>
              <a:t>, Curran Associates, Inc., 2012. Accessed: Aug. 11, 2026. [Online]. Available: https://proceedings.neurips.cc/paper_files/paper/2012/hash/c399862d3b9d6b76c8436e924a68c45b-Abstract.html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[2]	K. He, X. Zhang, S. Ren, and J. Sun, ‘Deep Residual Learning for Image Recognition’, Dec. 10, 2015, </a:t>
            </a:r>
            <a:r>
              <a:rPr lang="en-GB" sz="1200" i="1" dirty="0" err="1"/>
              <a:t>arXiv</a:t>
            </a:r>
            <a:r>
              <a:rPr lang="en-GB" sz="1200" dirty="0"/>
              <a:t>: arXiv:1512.03385. </a:t>
            </a:r>
            <a:r>
              <a:rPr lang="en-GB" sz="1200" dirty="0" err="1"/>
              <a:t>doi</a:t>
            </a:r>
            <a:r>
              <a:rPr lang="en-GB" sz="1200" dirty="0"/>
              <a:t>: 10.48550/arXiv.1512.03385.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[3]	K. He, X. Zhang, S. Ren, and J. Sun, ‘Deep Residual Learning for Image Recognition’, Dec. 10, 2015, </a:t>
            </a:r>
            <a:r>
              <a:rPr lang="en-GB" sz="1200" i="1" dirty="0" err="1"/>
              <a:t>arXiv</a:t>
            </a:r>
            <a:r>
              <a:rPr lang="en-GB" sz="1200" dirty="0"/>
              <a:t>: arXiv:1512.03385. </a:t>
            </a:r>
            <a:r>
              <a:rPr lang="en-GB" sz="1200" dirty="0" err="1"/>
              <a:t>doi</a:t>
            </a:r>
            <a:r>
              <a:rPr lang="en-GB" sz="1200" dirty="0"/>
              <a:t>: 10.48550/arXiv.1512.03385.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[4]	‘Deep Learning’. Accessed: Aug. 11, 2026. [Online]. Available: https://www.deeplearningbook.org/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[5]	S. Ioffe and C. Szegedy, ‘Batch Normalization: Accelerating Deep Network Training by Reducing Internal Covariate Shift’, Mar. 02, 2015, </a:t>
            </a:r>
            <a:r>
              <a:rPr lang="en-GB" sz="1200" i="1" dirty="0" err="1"/>
              <a:t>arXiv</a:t>
            </a:r>
            <a:r>
              <a:rPr lang="en-GB" sz="1200" dirty="0"/>
              <a:t>: arXiv:1502.03167. </a:t>
            </a:r>
            <a:r>
              <a:rPr lang="en-GB" sz="1200" dirty="0" err="1"/>
              <a:t>doi</a:t>
            </a:r>
            <a:r>
              <a:rPr lang="en-GB" sz="1200" dirty="0"/>
              <a:t>: 10.48550/arXiv.1502.03167.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[6]	S. Ioffe and C. Szegedy, ‘Batch Normalization: Accelerating Deep Network Training by Reducing Internal Covariate Shift’, Mar. 02, 2015, </a:t>
            </a:r>
            <a:r>
              <a:rPr lang="en-GB" sz="1200" i="1" dirty="0" err="1"/>
              <a:t>arXiv</a:t>
            </a:r>
            <a:r>
              <a:rPr lang="en-GB" sz="1200" dirty="0"/>
              <a:t>: arXiv:1502.03167. </a:t>
            </a:r>
            <a:r>
              <a:rPr lang="en-GB" sz="1200" dirty="0" err="1"/>
              <a:t>doi</a:t>
            </a:r>
            <a:r>
              <a:rPr lang="en-GB" sz="1200" dirty="0"/>
              <a:t>: 10.48550/arXiv.1502.03167.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[7]	N. Srivastava, G. Hinton, A. </a:t>
            </a:r>
            <a:r>
              <a:rPr lang="en-GB" sz="1200" dirty="0" err="1"/>
              <a:t>Krizhevsky</a:t>
            </a:r>
            <a:r>
              <a:rPr lang="en-GB" sz="1200" dirty="0"/>
              <a:t>, I. </a:t>
            </a:r>
            <a:r>
              <a:rPr lang="en-GB" sz="1200" dirty="0" err="1"/>
              <a:t>Sutskever</a:t>
            </a:r>
            <a:r>
              <a:rPr lang="en-GB" sz="1200" dirty="0"/>
              <a:t>, and R. </a:t>
            </a:r>
            <a:r>
              <a:rPr lang="en-GB" sz="1200" dirty="0" err="1"/>
              <a:t>Salakhutdinov</a:t>
            </a:r>
            <a:r>
              <a:rPr lang="en-GB" sz="1200" dirty="0"/>
              <a:t>, ‘Dropout: A Simple Way to Prevent Neural Networks from Overfitting’, </a:t>
            </a:r>
            <a:r>
              <a:rPr lang="en-GB" sz="1200" i="1" dirty="0"/>
              <a:t>Journal of Machine Learning Research</a:t>
            </a:r>
            <a:r>
              <a:rPr lang="en-GB" sz="1200" dirty="0"/>
              <a:t>, vol. 15, no. 56, pp. 1929–1958, 2014.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[8]	V. Nair and G. E. Hinton, ‘Rectified Linear Units Improve Restricted Boltzmann Machines’.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[9]	D. P. Kingma and J. Ba, ‘Adam: A Method for Stochastic Optimization’, Jan. 30, 2017, </a:t>
            </a:r>
            <a:r>
              <a:rPr lang="en-GB" sz="1200" i="1" dirty="0" err="1"/>
              <a:t>arXiv</a:t>
            </a:r>
            <a:r>
              <a:rPr lang="en-GB" sz="1200" dirty="0"/>
              <a:t>: arXiv:1412.6980. </a:t>
            </a:r>
            <a:r>
              <a:rPr lang="en-GB" sz="1200" dirty="0" err="1"/>
              <a:t>doi</a:t>
            </a:r>
            <a:r>
              <a:rPr lang="en-GB" sz="1200" dirty="0"/>
              <a:t>: 10.48550/arXiv.1412.6980.</a:t>
            </a:r>
          </a:p>
          <a:p>
            <a:pPr marL="342900" indent="-342900" algn="l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7B713-33EA-46AF-6E6D-6E976105E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528F5BE-CEFA-F6E1-D3CA-0F53C1C54DF1}"/>
              </a:ext>
            </a:extLst>
          </p:cNvPr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EA4BA71-06BB-07CE-7096-64793A6B2EF1}"/>
              </a:ext>
            </a:extLst>
          </p:cNvPr>
          <p:cNvSpPr/>
          <p:nvPr/>
        </p:nvSpPr>
        <p:spPr>
          <a:xfrm>
            <a:off x="457200" y="0"/>
            <a:ext cx="82296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91571A5-726A-BD19-7B8E-9329AC9196FB}"/>
              </a:ext>
            </a:extLst>
          </p:cNvPr>
          <p:cNvSpPr/>
          <p:nvPr/>
        </p:nvSpPr>
        <p:spPr>
          <a:xfrm>
            <a:off x="0" y="4745736"/>
            <a:ext cx="9144000" cy="397764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0367A29-FA72-47B2-571A-7D1BAE8DECD5}"/>
              </a:ext>
            </a:extLst>
          </p:cNvPr>
          <p:cNvSpPr/>
          <p:nvPr/>
        </p:nvSpPr>
        <p:spPr>
          <a:xfrm>
            <a:off x="320040" y="4745736"/>
            <a:ext cx="137160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nec</a:t>
            </a:r>
            <a:endParaRPr lang="en-US" sz="2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D9BEA84-9AF4-D293-8C3F-E7076DF234E2}"/>
              </a:ext>
            </a:extLst>
          </p:cNvPr>
          <p:cNvSpPr/>
          <p:nvPr/>
        </p:nvSpPr>
        <p:spPr>
          <a:xfrm>
            <a:off x="7955280" y="4745736"/>
            <a:ext cx="8229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18</a:t>
            </a: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1FDE221-0B90-47E9-22F6-2820D8B39D27}"/>
              </a:ext>
            </a:extLst>
          </p:cNvPr>
          <p:cNvSpPr/>
          <p:nvPr/>
        </p:nvSpPr>
        <p:spPr>
          <a:xfrm>
            <a:off x="502920" y="960120"/>
            <a:ext cx="813816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endParaRPr lang="en-US" sz="1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3B1363-428D-D1B7-0A1C-B33BAA809795}"/>
              </a:ext>
            </a:extLst>
          </p:cNvPr>
          <p:cNvSpPr txBox="1"/>
          <p:nvPr/>
        </p:nvSpPr>
        <p:spPr>
          <a:xfrm>
            <a:off x="1209368" y="1467464"/>
            <a:ext cx="717509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[10]	‘</a:t>
            </a:r>
            <a:r>
              <a:rPr lang="en-GB" sz="1200" dirty="0" err="1"/>
              <a:t>PyTorch</a:t>
            </a:r>
            <a:r>
              <a:rPr lang="en-GB" sz="1200" dirty="0"/>
              <a:t> documentation — </a:t>
            </a:r>
            <a:r>
              <a:rPr lang="en-GB" sz="1200" dirty="0" err="1"/>
              <a:t>PyTorch</a:t>
            </a:r>
            <a:r>
              <a:rPr lang="en-GB" sz="1200" dirty="0"/>
              <a:t> 2.13 documentation’. Accessed: Aug. 11, 2026. [Online]. Available: https://docs.pytorch.org/docs/stable/index.html</a:t>
            </a:r>
          </a:p>
          <a:p>
            <a:r>
              <a:rPr lang="en-GB" sz="1200" dirty="0"/>
              <a:t>[11]	A. </a:t>
            </a:r>
            <a:r>
              <a:rPr lang="en-GB" sz="1200" dirty="0" err="1"/>
              <a:t>Paszke</a:t>
            </a:r>
            <a:r>
              <a:rPr lang="en-GB" sz="1200" dirty="0"/>
              <a:t> </a:t>
            </a:r>
            <a:r>
              <a:rPr lang="en-GB" sz="1200" i="1" dirty="0"/>
              <a:t>et al.</a:t>
            </a:r>
            <a:r>
              <a:rPr lang="en-GB" sz="1200" dirty="0"/>
              <a:t>, ‘</a:t>
            </a:r>
            <a:r>
              <a:rPr lang="en-GB" sz="1200" dirty="0" err="1"/>
              <a:t>PyTorch</a:t>
            </a:r>
            <a:r>
              <a:rPr lang="en-GB" sz="1200" dirty="0"/>
              <a:t>: An Imperative Style, High-Performance Deep Learning Library’, in </a:t>
            </a:r>
            <a:r>
              <a:rPr lang="en-GB" sz="1200" i="1" dirty="0"/>
              <a:t>Advances in Neural Information Processing Systems</a:t>
            </a:r>
            <a:r>
              <a:rPr lang="en-GB" sz="1200" dirty="0"/>
              <a:t>, Curran Associates, Inc., 2019. Accessed: Aug. 11, 2026. [Online]. Available: https://proceedings.neurips.cc/paper/2019/hash/bdbca288fee7f92f2bfa9f7012727740-Abstract.html</a:t>
            </a:r>
          </a:p>
          <a:p>
            <a:r>
              <a:rPr lang="en-GB" sz="1200" dirty="0"/>
              <a:t>[12]	‘</a:t>
            </a:r>
            <a:r>
              <a:rPr lang="en-GB" sz="1200" dirty="0" err="1"/>
              <a:t>PyImageSearch</a:t>
            </a:r>
            <a:r>
              <a:rPr lang="en-GB" sz="1200" dirty="0"/>
              <a:t> - You can master Computer Vision, Deep Learning, and OpenCV.’, </a:t>
            </a:r>
            <a:r>
              <a:rPr lang="en-GB" sz="1200" dirty="0" err="1"/>
              <a:t>PyImageSearch</a:t>
            </a:r>
            <a:r>
              <a:rPr lang="en-GB" sz="1200" dirty="0"/>
              <a:t>. Accessed: Aug. 11, 2026. [Online]. Available: https://pyimagesearch.com/</a:t>
            </a:r>
          </a:p>
          <a:p>
            <a:r>
              <a:rPr lang="en-GB" sz="1200" dirty="0"/>
              <a:t>[13]	‘CUDA C++ Programming Guide (Legacy) — CUDA C++ Programming Guide’. Accessed: Aug. 11, 2026. [Online]. Available: https://docs.nvidia.com/cuda/cuda-c-programming-guide/</a:t>
            </a:r>
          </a:p>
          <a:p>
            <a:r>
              <a:rPr lang="en-GB" sz="1200" dirty="0"/>
              <a:t>[14]	‘Welcome to Flask — Flask Documentation (3.1.x)’. Accessed: Aug. 11, 2026. [Online]. Available: https://flask.palletsprojects.com/en/stable/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9866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1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presentation …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932688"/>
            <a:ext cx="9144000" cy="4210812"/>
          </a:xfrm>
          <a:prstGeom prst="rect">
            <a:avLst/>
          </a:prstGeom>
          <a:solidFill>
            <a:srgbClr val="0120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1914</Words>
  <Application>Microsoft Office PowerPoint</Application>
  <PresentationFormat>On-screen Show (16:9)</PresentationFormat>
  <Paragraphs>216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Georgia</vt:lpstr>
      <vt:lpstr>quote-cjk-patch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Bishesh KC</cp:lastModifiedBy>
  <cp:revision>15</cp:revision>
  <dcterms:created xsi:type="dcterms:W3CDTF">2026-08-11T02:54:42Z</dcterms:created>
  <dcterms:modified xsi:type="dcterms:W3CDTF">2026-08-11T05:51:30Z</dcterms:modified>
</cp:coreProperties>
</file>